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72a64ac20_0_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972a64ac20_0_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72a64ac20_0_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972a64ac20_0_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1090543" y="733455"/>
            <a:ext cx="8452485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>
                <a:solidFill>
                  <a:srgbClr val="37AA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7" y="303047"/>
            <a:ext cx="855782" cy="8339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1090543" y="733455"/>
            <a:ext cx="8452485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>
                <a:solidFill>
                  <a:srgbClr val="37AA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1090543" y="2139030"/>
            <a:ext cx="10069195" cy="3973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1064003" y="733455"/>
            <a:ext cx="10063992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>
                <a:solidFill>
                  <a:srgbClr val="37AA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090543" y="733455"/>
            <a:ext cx="8452485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>
                <a:solidFill>
                  <a:srgbClr val="37AA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90543" y="733455"/>
            <a:ext cx="8452485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rgbClr val="37AA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90543" y="2139030"/>
            <a:ext cx="10069195" cy="3973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0.png"/><Relationship Id="rId5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HtrLg4UZ_tcD9zAwbB0uGD6LGUroC4rA/view?usp=drive_link" TargetMode="External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IgBBifvjvxQN8tfrXNKM24Q6ZWq8b4P5/view?usp=drive_link" TargetMode="External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mAwuFLxxtSUnWbMA8kYOv1QeyrHmqSBf/view?usp=drive_link" TargetMode="External"/><Relationship Id="rId4" Type="http://schemas.openxmlformats.org/officeDocument/2006/relationships/hyperlink" Target="https://drive.google.com/file/d/1JES0x95jg84kXBZVWq-2DHjO4QCI53O5/view?usp=drive_link" TargetMode="External"/><Relationship Id="rId5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drive/folders/1YiTSDAtYmnHkTUs7Bhtuh9p-5aI3Bl9_?usp=drive_link" TargetMode="External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drive/folders/1p9wdS3YulSckDOts2Zs2fBFtcP277pmg?usp=drive_link" TargetMode="External"/><Relationship Id="rId4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19280" y="3543311"/>
            <a:ext cx="4779010" cy="1598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A&amp;L Compresores Y Partes</a:t>
            </a:r>
            <a:endParaRPr sz="43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23519" y="0"/>
            <a:ext cx="12168480" cy="6858000"/>
            <a:chOff x="23519" y="0"/>
            <a:chExt cx="12168480" cy="6858000"/>
          </a:xfrm>
        </p:grpSpPr>
        <p:pic>
          <p:nvPicPr>
            <p:cNvPr id="52" name="Google Shape;52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519" y="0"/>
              <a:ext cx="1216848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54858" y="303047"/>
              <a:ext cx="855782" cy="833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46337" y="2166052"/>
              <a:ext cx="2802358" cy="29746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" name="Google Shape;55;p8"/>
          <p:cNvSpPr txBox="1"/>
          <p:nvPr/>
        </p:nvSpPr>
        <p:spPr>
          <a:xfrm>
            <a:off x="1090543" y="2139030"/>
            <a:ext cx="6402070" cy="232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 empresa A&amp;L Compresores y partes se dedica a la venta de filtros, aceites, separadores y repuestos para compresores y maquinaria pesada. Atiende a clientes locales y regionales en los sectores automotriz e industrial.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Se encuentra ubicada en: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Cl. 6 #46, Los Mártires, Bogotá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 txBox="1"/>
          <p:nvPr>
            <p:ph type="title"/>
          </p:nvPr>
        </p:nvSpPr>
        <p:spPr>
          <a:xfrm>
            <a:off x="1090543" y="733455"/>
            <a:ext cx="8452485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Contexto</a:t>
            </a:r>
            <a:endParaRPr sz="6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9"/>
          <p:cNvGrpSpPr/>
          <p:nvPr/>
        </p:nvGrpSpPr>
        <p:grpSpPr>
          <a:xfrm>
            <a:off x="23519" y="0"/>
            <a:ext cx="12168480" cy="6857999"/>
            <a:chOff x="23519" y="0"/>
            <a:chExt cx="12168480" cy="6857999"/>
          </a:xfrm>
        </p:grpSpPr>
        <p:pic>
          <p:nvPicPr>
            <p:cNvPr id="62" name="Google Shape;6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519" y="0"/>
              <a:ext cx="1216848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54858" y="303047"/>
              <a:ext cx="855782" cy="833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9"/>
          <p:cNvSpPr txBox="1"/>
          <p:nvPr/>
        </p:nvSpPr>
        <p:spPr>
          <a:xfrm>
            <a:off x="1090550" y="2139025"/>
            <a:ext cx="7412100" cy="3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La empresa A&amp;L Compresores y Partes cuenta actualmente con una página web estática que únicamente ofrece información básica y poco detallada acerca de la compañía y de los productos que comercializa. Dicha información, además de ser general, se encuentra desactualizada y nunca se renueva, lo que le resta credibilidad y pertinencia frente a clientes potenciales.</a:t>
            </a:r>
            <a:endParaRPr sz="1800"/>
          </a:p>
          <a:p>
            <a:pPr indent="0" lvl="0" marL="0" rtl="0" algn="l">
              <a:lnSpc>
                <a:spcPct val="19090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Este sitio web representa un gasto anual de $300.000 pesos colombianos por concepto de pago del dominio, sin que dicha inversión se traduzca en un verdadero aporte de valor a la organización.</a:t>
            </a:r>
            <a:endParaRPr sz="1800"/>
          </a:p>
          <a:p>
            <a:pPr indent="0" lvl="0" marL="127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1090543" y="733455"/>
            <a:ext cx="8452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Problemática</a:t>
            </a:r>
            <a:endParaRPr sz="6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0"/>
          <p:cNvGrpSpPr/>
          <p:nvPr/>
        </p:nvGrpSpPr>
        <p:grpSpPr>
          <a:xfrm>
            <a:off x="23519" y="0"/>
            <a:ext cx="12168480" cy="6857999"/>
            <a:chOff x="23519" y="0"/>
            <a:chExt cx="12168480" cy="6857999"/>
          </a:xfrm>
        </p:grpSpPr>
        <p:pic>
          <p:nvPicPr>
            <p:cNvPr id="71" name="Google Shape;7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519" y="0"/>
              <a:ext cx="1216848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54858" y="303047"/>
              <a:ext cx="855782" cy="833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" name="Google Shape;73;p10"/>
          <p:cNvSpPr txBox="1"/>
          <p:nvPr/>
        </p:nvSpPr>
        <p:spPr>
          <a:xfrm>
            <a:off x="1090550" y="2139025"/>
            <a:ext cx="9035400" cy="3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Adicionalmente, la empresa enfrenta serias dificultades en el manejo de la mercancía entre sus diferentes bodegas. Esta situación genera retrasos, inconsistencias en los inventarios y un control deficiente sobre la ubicación real de los productos, lo que a su vez repercute en la eficiencia operativa.</a:t>
            </a:r>
            <a:endParaRPr sz="1800"/>
          </a:p>
          <a:p>
            <a:pPr indent="0" lvl="0" marL="0" rtl="0" algn="l">
              <a:lnSpc>
                <a:spcPct val="19090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A lo anterior se suma la complejidad en la gestión de productos, ya que no existe un sistema confiable que permita registrar, supervisar y actualizar de manera oportuna la información relacionada con las existencias, entradas y salidas.</a:t>
            </a:r>
            <a:endParaRPr sz="1800"/>
          </a:p>
          <a:p>
            <a:pPr indent="0" lvl="0" marL="127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" name="Google Shape;74;p10"/>
          <p:cNvSpPr txBox="1"/>
          <p:nvPr>
            <p:ph type="title"/>
          </p:nvPr>
        </p:nvSpPr>
        <p:spPr>
          <a:xfrm>
            <a:off x="1090543" y="733455"/>
            <a:ext cx="8452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Problemática</a:t>
            </a:r>
            <a:endParaRPr sz="6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0" name="Google Shape;80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54857" y="303047"/>
              <a:ext cx="855782" cy="833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72957" y="2253833"/>
              <a:ext cx="3555346" cy="23665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11"/>
          <p:cNvSpPr txBox="1"/>
          <p:nvPr/>
        </p:nvSpPr>
        <p:spPr>
          <a:xfrm>
            <a:off x="1090550" y="2139019"/>
            <a:ext cx="6403975" cy="1341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Desarrollar e implementar un sistema de información web y móvil para la empresa A&amp;L Compresores y Partes, enfocado en  la  gestión  de  inventarios  de  repuestos  y  suministros, incorporando un módulo de ventas.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1090543" y="733455"/>
            <a:ext cx="8452485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Objetivo general</a:t>
            </a:r>
            <a:endParaRPr sz="6600"/>
          </a:p>
        </p:txBody>
      </p:sp>
      <p:pic>
        <p:nvPicPr>
          <p:cNvPr id="85" name="Google Shape;8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12122" y="2497833"/>
            <a:ext cx="3724669" cy="1862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idx="1" type="body"/>
          </p:nvPr>
        </p:nvSpPr>
        <p:spPr>
          <a:xfrm>
            <a:off x="1090543" y="2139030"/>
            <a:ext cx="10069195" cy="3973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Módulo de Usuarios</a:t>
            </a:r>
            <a:endParaRPr/>
          </a:p>
          <a:p>
            <a:pPr indent="0" lvl="0" marL="12700" marR="508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Gestiona la información de los usuarios, permitiendo registrar cuentas, iniciar sesión, asignar roles y administrar los datos personales y permisos dentro del sistema.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/>
              <a:t>Módulo de Notificación</a:t>
            </a:r>
            <a:endParaRPr/>
          </a:p>
          <a:p>
            <a:pPr indent="0" lvl="0" marL="12700" marR="508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Envía alertas automáticas sobre compras, pedidos, inventario bajo y otros eventos importantes, además de mantener un historial consultable de notificaciones.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/>
              <a:t>Módulo de Carrito de Compras</a:t>
            </a:r>
            <a:endParaRPr/>
          </a:p>
          <a:p>
            <a:pPr indent="0" lvl="0" marL="12700" marR="1651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Permite agregar, modificar o eliminar productos del carrito, calcular el total y generar la orden de compra, validando disponibilidad en el inventario.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/>
              <a:t>Módulo de Inventario</a:t>
            </a:r>
            <a:endParaRPr/>
          </a:p>
          <a:p>
            <a:pPr indent="0" lvl="0" marL="12700" marR="508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Administra la cantidad y estado de los productos, controla entradas y salidas, actualiza existencias tras cada compra y genera alertas cuando el stock es bajo.</a:t>
            </a:r>
            <a:endParaRPr/>
          </a:p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>
            <a:off x="1090543" y="733455"/>
            <a:ext cx="8452485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Modúlos</a:t>
            </a:r>
            <a:endParaRPr sz="6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/>
        </p:nvSpPr>
        <p:spPr>
          <a:xfrm>
            <a:off x="1319108" y="2139030"/>
            <a:ext cx="6176010" cy="2658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60655" lvl="0" marL="172720" marR="5715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Gestionar la información centralizada del inventario para un mejor control de existencias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60655" lvl="0" marL="172720" marR="5715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Gestionar	los	procesos	de	recepción	y	salida	de productos.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60655" lvl="0" marL="172720" marR="5715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Gestionar	la	optimización	del	proceso	de	compras	y abastecimiento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60655" lvl="0" marL="172720" marR="5080" rtl="0" algn="l">
              <a:lnSpc>
                <a:spcPct val="119900"/>
              </a:lnSpc>
              <a:spcBef>
                <a:spcPts val="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Generar reportes de inventarios de forma automatizada y personalizada.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>
            <p:ph type="title"/>
          </p:nvPr>
        </p:nvSpPr>
        <p:spPr>
          <a:xfrm>
            <a:off x="1090543" y="733455"/>
            <a:ext cx="8452485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Objetivos especíﬁcos.</a:t>
            </a:r>
            <a:endParaRPr sz="6600"/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7950" y="2771173"/>
            <a:ext cx="3551930" cy="1997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ctrTitle"/>
          </p:nvPr>
        </p:nvSpPr>
        <p:spPr>
          <a:xfrm>
            <a:off x="1064003" y="733455"/>
            <a:ext cx="10063992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Modelo relacional</a:t>
            </a:r>
            <a:endParaRPr sz="6600"/>
          </a:p>
        </p:txBody>
      </p:sp>
      <p:sp>
        <p:nvSpPr>
          <p:cNvPr id="104" name="Google Shape;104;p14"/>
          <p:cNvSpPr txBox="1"/>
          <p:nvPr/>
        </p:nvSpPr>
        <p:spPr>
          <a:xfrm>
            <a:off x="1358924" y="2070318"/>
            <a:ext cx="1310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Modelo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70045" y="2472547"/>
            <a:ext cx="1634864" cy="299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ctrTitle"/>
          </p:nvPr>
        </p:nvSpPr>
        <p:spPr>
          <a:xfrm>
            <a:off x="1064003" y="733455"/>
            <a:ext cx="10063992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Script BD</a:t>
            </a:r>
            <a:endParaRPr sz="6600"/>
          </a:p>
        </p:txBody>
      </p:sp>
      <p:sp>
        <p:nvSpPr>
          <p:cNvPr id="111" name="Google Shape;111;p15"/>
          <p:cNvSpPr txBox="1"/>
          <p:nvPr/>
        </p:nvSpPr>
        <p:spPr>
          <a:xfrm>
            <a:off x="1358924" y="2070318"/>
            <a:ext cx="966469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Script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2651" y="1558059"/>
            <a:ext cx="2083110" cy="3819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1090543" y="733455"/>
            <a:ext cx="84525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DML Y DQL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358924" y="2189935"/>
            <a:ext cx="7938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DML</a:t>
            </a:r>
            <a:r>
              <a:rPr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DQL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72621" y="1649449"/>
            <a:ext cx="1634864" cy="299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ctrTitle"/>
          </p:nvPr>
        </p:nvSpPr>
        <p:spPr>
          <a:xfrm>
            <a:off x="1064003" y="733455"/>
            <a:ext cx="10063992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Procedimientos almacenados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1358924" y="2070318"/>
            <a:ext cx="259905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Procedimientos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3121" y="2475474"/>
            <a:ext cx="1634864" cy="299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ctrTitle"/>
          </p:nvPr>
        </p:nvSpPr>
        <p:spPr>
          <a:xfrm>
            <a:off x="1064003" y="733455"/>
            <a:ext cx="10063992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Proyecto front-end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1358924" y="1940734"/>
            <a:ext cx="90678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Front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3250" y="2724150"/>
            <a:ext cx="7439350" cy="338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