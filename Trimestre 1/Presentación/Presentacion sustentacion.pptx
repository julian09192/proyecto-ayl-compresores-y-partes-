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Work Sans"/>
      <p:bold r:id="rId17"/>
      <p:boldItalic r:id="rId18"/>
    </p:embeddedFont>
    <p:embeddedFont>
      <p:font typeface="Work Sans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hmdzKk7I0DEbo6T9ntl2XtZTT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bold.fntdata"/><Relationship Id="rId11" Type="http://schemas.openxmlformats.org/officeDocument/2006/relationships/slide" Target="slides/slide6.xml"/><Relationship Id="rId22" Type="http://schemas.openxmlformats.org/officeDocument/2006/relationships/font" Target="fonts/WorkSans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WorkSans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WorkSans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Light-regular.fntdata"/><Relationship Id="rId6" Type="http://schemas.openxmlformats.org/officeDocument/2006/relationships/slide" Target="slides/slide1.xml"/><Relationship Id="rId18" Type="http://schemas.openxmlformats.org/officeDocument/2006/relationships/font" Target="fonts/Work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837313" y="-1023463"/>
            <a:ext cx="15075525" cy="8904926"/>
          </a:xfrm>
          <a:custGeom>
            <a:rect b="b" l="l" r="r" t="t"/>
            <a:pathLst>
              <a:path extrusionOk="0" h="8904926" w="15075525">
                <a:moveTo>
                  <a:pt x="0" y="0"/>
                </a:moveTo>
                <a:lnTo>
                  <a:pt x="15075525" y="0"/>
                </a:lnTo>
                <a:lnTo>
                  <a:pt x="15075525" y="8904926"/>
                </a:lnTo>
                <a:lnTo>
                  <a:pt x="0" y="8904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03" r="-2504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685800" y="3429000"/>
            <a:ext cx="6453683" cy="1938995"/>
          </a:xfrm>
          <a:custGeom>
            <a:rect b="b" l="l" r="r" t="t"/>
            <a:pathLst>
              <a:path extrusionOk="0" h="1938995" w="6453683">
                <a:moveTo>
                  <a:pt x="0" y="0"/>
                </a:moveTo>
                <a:lnTo>
                  <a:pt x="6453683" y="0"/>
                </a:lnTo>
                <a:lnTo>
                  <a:pt x="6453683" y="1938995"/>
                </a:lnTo>
                <a:lnTo>
                  <a:pt x="0" y="1938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831980" y="3708910"/>
            <a:ext cx="504377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99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A&amp;L Compresores Y Partes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8146337" y="2166052"/>
            <a:ext cx="2802359" cy="2974649"/>
          </a:xfrm>
          <a:custGeom>
            <a:rect b="b" l="l" r="r" t="t"/>
            <a:pathLst>
              <a:path extrusionOk="0" h="2974649" w="2802359">
                <a:moveTo>
                  <a:pt x="0" y="0"/>
                </a:moveTo>
                <a:lnTo>
                  <a:pt x="2802359" y="0"/>
                </a:lnTo>
                <a:lnTo>
                  <a:pt x="2802359" y="2974648"/>
                </a:lnTo>
                <a:lnTo>
                  <a:pt x="0" y="297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2466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1103243" y="2215733"/>
            <a:ext cx="63810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empresa A&amp;L Compresores y Partes se especializa se dedica a la venta de filtros, aceites, separadores y repuestos para compresores y maquinaria pesada. Atiende a clientes locales y regionales en los sectores automotriz e industrial.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encuentra ubicada en: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Cl. 6 #46, Los Mártires, Bogotá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Contexto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7772957" y="2253833"/>
            <a:ext cx="3555346" cy="2366527"/>
          </a:xfrm>
          <a:custGeom>
            <a:rect b="b" l="l" r="r" t="t"/>
            <a:pathLst>
              <a:path extrusionOk="0" h="2366527" w="3555346">
                <a:moveTo>
                  <a:pt x="0" y="0"/>
                </a:moveTo>
                <a:lnTo>
                  <a:pt x="3555347" y="0"/>
                </a:lnTo>
                <a:lnTo>
                  <a:pt x="3555347" y="2366527"/>
                </a:lnTo>
                <a:lnTo>
                  <a:pt x="0" y="236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1103243" y="2215733"/>
            <a:ext cx="6380959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empresa A&amp;L Compresores y Partes cuenta actualmente con una página web estática que únicamente ofrece información básica y poco detallada acerca de la compañía y de los productos que comercializa. Dicha información, además de ser general, se encuentra desactualizada y nunca se renueva, lo que le resta credibilidad y pertinencia frente a clientes potenciales.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sitio web representa un gasto anual de $300.000 pesos colombianos por concepto de pago del dominio, sin que dicha inversión se traduzca en un verdadero aporte de valor a la organización.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Problemática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4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4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8012125" y="2253833"/>
            <a:ext cx="3852281" cy="2484721"/>
          </a:xfrm>
          <a:custGeom>
            <a:rect b="b" l="l" r="r" t="t"/>
            <a:pathLst>
              <a:path extrusionOk="0" h="2484721" w="3852281">
                <a:moveTo>
                  <a:pt x="0" y="0"/>
                </a:moveTo>
                <a:lnTo>
                  <a:pt x="3852281" y="0"/>
                </a:lnTo>
                <a:lnTo>
                  <a:pt x="3852281" y="2484721"/>
                </a:lnTo>
                <a:lnTo>
                  <a:pt x="0" y="2484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1103243" y="2215733"/>
            <a:ext cx="6380959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Adicionalmente, la empresa enfrenta serias dificultades en el manejo de la mercancía entre sus diferentes bodegas. Esta situación genera retrasos, inconsistencias en los inventarios y un control deficiente sobre la ubicación real de los productos, lo que a su vez repercute en la eficiencia operativa.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 anterior se suma la complejidad en la gestión de productos, ya que no existe un sistema confiable que permita registrar, supervisar y actualizar de manera oportuna la información relacionada con las existencias, entradas y salidas.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Problemática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5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5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5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5"/>
          <p:cNvSpPr/>
          <p:nvPr/>
        </p:nvSpPr>
        <p:spPr>
          <a:xfrm>
            <a:off x="8354874" y="2253833"/>
            <a:ext cx="2699984" cy="2699984"/>
          </a:xfrm>
          <a:custGeom>
            <a:rect b="b" l="l" r="r" t="t"/>
            <a:pathLst>
              <a:path extrusionOk="0" h="2699984" w="2699984">
                <a:moveTo>
                  <a:pt x="0" y="0"/>
                </a:moveTo>
                <a:lnTo>
                  <a:pt x="2699984" y="0"/>
                </a:lnTo>
                <a:lnTo>
                  <a:pt x="2699984" y="2699983"/>
                </a:lnTo>
                <a:lnTo>
                  <a:pt x="0" y="269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5"/>
          <p:cNvSpPr txBox="1"/>
          <p:nvPr/>
        </p:nvSpPr>
        <p:spPr>
          <a:xfrm>
            <a:off x="1103243" y="2215733"/>
            <a:ext cx="6380959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puede un sistema de información optimizar la gestión de productos y mejorar la eficiencia en el manejo de mercancía entre las bodegas de la empresa AyL Compresores y Partes?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103243" y="779678"/>
            <a:ext cx="928690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problemática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6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6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6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6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/>
          <p:nvPr/>
        </p:nvSpPr>
        <p:spPr>
          <a:xfrm>
            <a:off x="7772957" y="2253833"/>
            <a:ext cx="3555346" cy="2366527"/>
          </a:xfrm>
          <a:custGeom>
            <a:rect b="b" l="l" r="r" t="t"/>
            <a:pathLst>
              <a:path extrusionOk="0" h="2366527" w="3555346">
                <a:moveTo>
                  <a:pt x="0" y="0"/>
                </a:moveTo>
                <a:lnTo>
                  <a:pt x="3555347" y="0"/>
                </a:lnTo>
                <a:lnTo>
                  <a:pt x="3555347" y="2366527"/>
                </a:lnTo>
                <a:lnTo>
                  <a:pt x="0" y="2366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 txBox="1"/>
          <p:nvPr/>
        </p:nvSpPr>
        <p:spPr>
          <a:xfrm>
            <a:off x="1103243" y="2215733"/>
            <a:ext cx="638095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e implementar un sistema de información para la empresa A&amp;L Compresores y Partes, enfocado en la gestión de inventarios de repuestos y suministros, incorporando un módulo de ventas en línea con carrito de compras integrado al control de stock.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103243" y="779678"/>
            <a:ext cx="6908883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620973" y="2507358"/>
            <a:ext cx="3724669" cy="1862334"/>
          </a:xfrm>
          <a:custGeom>
            <a:rect b="b" l="l" r="r" t="t"/>
            <a:pathLst>
              <a:path extrusionOk="0" h="1862334" w="3724669">
                <a:moveTo>
                  <a:pt x="0" y="0"/>
                </a:moveTo>
                <a:lnTo>
                  <a:pt x="3724669" y="0"/>
                </a:lnTo>
                <a:lnTo>
                  <a:pt x="3724669" y="1862334"/>
                </a:lnTo>
                <a:lnTo>
                  <a:pt x="0" y="1862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7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7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7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 txBox="1"/>
          <p:nvPr/>
        </p:nvSpPr>
        <p:spPr>
          <a:xfrm>
            <a:off x="1103243" y="2215733"/>
            <a:ext cx="6381000" cy="3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la información centralizada del inventario.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 carrito de compras en línea integrado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el proceso de control de existencias.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los procesos de recepción y salida de productos.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la optimización del proceso de compras y abastecimiento</a:t>
            </a:r>
            <a:endParaRPr/>
          </a:p>
          <a:p>
            <a:pPr indent="-194308" lvl="1" marL="388618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usuarios.</a:t>
            </a:r>
            <a:endParaRPr/>
          </a:p>
          <a:p>
            <a:pPr indent="-194308" lvl="1" marL="388617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reportes de inventarios de forma automatizada y personalizada.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103243" y="779678"/>
            <a:ext cx="8957802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especíﬁcos.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8107951" y="2771173"/>
            <a:ext cx="3551931" cy="1997961"/>
          </a:xfrm>
          <a:custGeom>
            <a:rect b="b" l="l" r="r" t="t"/>
            <a:pathLst>
              <a:path extrusionOk="0" h="1997961" w="3551931">
                <a:moveTo>
                  <a:pt x="0" y="0"/>
                </a:moveTo>
                <a:lnTo>
                  <a:pt x="3551931" y="0"/>
                </a:lnTo>
                <a:lnTo>
                  <a:pt x="3551931" y="1997961"/>
                </a:lnTo>
                <a:lnTo>
                  <a:pt x="0" y="1997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8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8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8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8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8"/>
          <p:cNvSpPr txBox="1"/>
          <p:nvPr/>
        </p:nvSpPr>
        <p:spPr>
          <a:xfrm>
            <a:off x="1103243" y="2215733"/>
            <a:ext cx="6380959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 información permitirá centralizar y optimizar el control de stock, mejorando la visibilidad y gestión en tiempo real del inventario. Esto facilitará la planificación de compras, reducirá riesgos de pérdidas, sobre stock o duplicación de pedidos, optimizando tanto los recursos como los costos operativos. 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268639" y="2253833"/>
            <a:ext cx="3214111" cy="2410583"/>
          </a:xfrm>
          <a:custGeom>
            <a:rect b="b" l="l" r="r" t="t"/>
            <a:pathLst>
              <a:path extrusionOk="0" h="2410583" w="3214111">
                <a:moveTo>
                  <a:pt x="0" y="0"/>
                </a:moveTo>
                <a:lnTo>
                  <a:pt x="3214110" y="0"/>
                </a:lnTo>
                <a:lnTo>
                  <a:pt x="3214110" y="2410583"/>
                </a:lnTo>
                <a:lnTo>
                  <a:pt x="0" y="2410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9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9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9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9"/>
          <p:cNvSpPr txBox="1"/>
          <p:nvPr/>
        </p:nvSpPr>
        <p:spPr>
          <a:xfrm>
            <a:off x="1103243" y="2215733"/>
            <a:ext cx="638095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Además, al automatizar la actualización de inventarios y la generación de reportes, se minimizarán los errores humanos, mejorando la precisión en las transacciones. En conjunto, se agilizarán los procesos administrativos relacionados con órdenes de compra, asignación de materiales y gestión de mantenimientos, incrementando la eficiencia operativa y reduciendo tiempos de inactividad.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Justificación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8123004" y="2253833"/>
            <a:ext cx="3234998" cy="2272586"/>
          </a:xfrm>
          <a:custGeom>
            <a:rect b="b" l="l" r="r" t="t"/>
            <a:pathLst>
              <a:path extrusionOk="0" h="2272586" w="3234998">
                <a:moveTo>
                  <a:pt x="0" y="0"/>
                </a:moveTo>
                <a:lnTo>
                  <a:pt x="3234998" y="0"/>
                </a:lnTo>
                <a:lnTo>
                  <a:pt x="3234998" y="2272586"/>
                </a:lnTo>
                <a:lnTo>
                  <a:pt x="0" y="2272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0"/>
          <p:cNvSpPr/>
          <p:nvPr/>
        </p:nvSpPr>
        <p:spPr>
          <a:xfrm>
            <a:off x="0" y="-37505"/>
            <a:ext cx="12258675" cy="6895505"/>
          </a:xfrm>
          <a:custGeom>
            <a:rect b="b" l="l" r="r" t="t"/>
            <a:pathLst>
              <a:path extrusionOk="0" h="6895505" w="12258675">
                <a:moveTo>
                  <a:pt x="0" y="0"/>
                </a:moveTo>
                <a:lnTo>
                  <a:pt x="12258675" y="0"/>
                </a:lnTo>
                <a:lnTo>
                  <a:pt x="12258675" y="6895505"/>
                </a:lnTo>
                <a:lnTo>
                  <a:pt x="0" y="6895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0"/>
          <p:cNvSpPr/>
          <p:nvPr/>
        </p:nvSpPr>
        <p:spPr>
          <a:xfrm>
            <a:off x="11054858" y="303047"/>
            <a:ext cx="855783" cy="833980"/>
          </a:xfrm>
          <a:custGeom>
            <a:rect b="b" l="l" r="r" t="t"/>
            <a:pathLst>
              <a:path extrusionOk="0" h="833980" w="855783">
                <a:moveTo>
                  <a:pt x="0" y="0"/>
                </a:moveTo>
                <a:lnTo>
                  <a:pt x="855783" y="0"/>
                </a:lnTo>
                <a:lnTo>
                  <a:pt x="855783" y="833981"/>
                </a:lnTo>
                <a:lnTo>
                  <a:pt x="0" y="833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0"/>
          <p:cNvSpPr/>
          <p:nvPr/>
        </p:nvSpPr>
        <p:spPr>
          <a:xfrm>
            <a:off x="1017518" y="664331"/>
            <a:ext cx="9576073" cy="1501721"/>
          </a:xfrm>
          <a:custGeom>
            <a:rect b="b" l="l" r="r" t="t"/>
            <a:pathLst>
              <a:path extrusionOk="0" h="1501721" w="9576073">
                <a:moveTo>
                  <a:pt x="0" y="0"/>
                </a:moveTo>
                <a:lnTo>
                  <a:pt x="9576073" y="0"/>
                </a:lnTo>
                <a:lnTo>
                  <a:pt x="9576073" y="1501721"/>
                </a:lnTo>
                <a:lnTo>
                  <a:pt x="0" y="1501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0"/>
          <p:cNvSpPr/>
          <p:nvPr/>
        </p:nvSpPr>
        <p:spPr>
          <a:xfrm>
            <a:off x="7801042" y="2253833"/>
            <a:ext cx="3911004" cy="2605706"/>
          </a:xfrm>
          <a:custGeom>
            <a:rect b="b" l="l" r="r" t="t"/>
            <a:pathLst>
              <a:path extrusionOk="0" h="2605706" w="3911004">
                <a:moveTo>
                  <a:pt x="0" y="0"/>
                </a:moveTo>
                <a:lnTo>
                  <a:pt x="3911004" y="0"/>
                </a:lnTo>
                <a:lnTo>
                  <a:pt x="3911004" y="2605706"/>
                </a:lnTo>
                <a:lnTo>
                  <a:pt x="0" y="2605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0"/>
          <p:cNvSpPr txBox="1"/>
          <p:nvPr/>
        </p:nvSpPr>
        <p:spPr>
          <a:xfrm>
            <a:off x="1103243" y="2215733"/>
            <a:ext cx="6380959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sistema apoyará áreas clave como la gestión de inventarios, compras, ventas, administración de clientes, optimizando procesos críticos como el control de stock de repuestos, la gestión de pedidos y la generación de reportes.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funcionalidades principales incluirán la centralización de inventarios, alertas automáticas de bajo stock, generación de reportes automáticos sobre ventas e inventarios, gestión de pedidos y ventas, integración con proveedores y seguimiento de control de calidad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1103243" y="779678"/>
            <a:ext cx="7843105" cy="938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Alcance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